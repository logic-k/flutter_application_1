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60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0000" y="108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한이음드림업</a:t>
            </a:r>
          </a:p>
        </p:txBody>
      </p:sp>
      <p:sp>
        <p:nvSpPr>
          <p:cNvPr id="4" name="Oval 3"/>
          <p:cNvSpPr/>
          <p:nvPr/>
        </p:nvSpPr>
        <p:spPr>
          <a:xfrm>
            <a:off x="360000" y="360000"/>
            <a:ext cx="64800" cy="6480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0000" y="720000"/>
            <a:ext cx="64800" cy="6480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0000" y="360000"/>
            <a:ext cx="64800" cy="6480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0000" y="900000"/>
            <a:ext cx="64800" cy="6480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00000" y="540000"/>
            <a:ext cx="64800" cy="6480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00000" y="1007999"/>
            <a:ext cx="64800" cy="6480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20000" y="360000"/>
            <a:ext cx="64800" cy="6480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20000" y="720000"/>
            <a:ext cx="64800" cy="6480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40000" y="540000"/>
            <a:ext cx="64800" cy="6480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000" y="1620000"/>
            <a:ext cx="97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8B0000"/>
                </a:solidFill>
                <a:latin typeface="맑은 고딕"/>
              </a:rPr>
              <a:t>SW개발/HW제작 설계서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0000" y="2880000"/>
            <a:ext cx="9720000" cy="79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0000" y="2951999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D79"/>
                </a:solidFill>
                <a:latin typeface="맑은 고딕"/>
              </a:rPr>
              <a:t>프로젝트 명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0000" y="3240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MemoryLink
- AI 기반 치매 예방 멀티 인터벤션 모바일 플랫폼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0" y="4320000"/>
            <a:ext cx="6480000" cy="12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0000" y="4500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맑은 고딕"/>
              </a:rPr>
              <a:t>2025. 05. 22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0000" y="4860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0000"/>
                </a:solidFill>
                <a:latin typeface="맑은 고딕"/>
              </a:rPr>
              <a:t>(팀명)  *팀원 이름 및 소속 기입 불가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수행 단계별 주요 산출물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" y="864000"/>
          <a:ext cx="8712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/>
                <a:gridCol w="2700000"/>
                <a:gridCol w="1620000"/>
                <a:gridCol w="1620000"/>
                <a:gridCol w="1620000"/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산출물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일반
모바일APP·Web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응용SW
빅데이터·AI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응용HW
IoT·로봇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환경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시장/기술 환경 분석서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설문조사 결과서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인터뷰 결과서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요구사항 분석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요구사항 정의서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유즈케이스 정의서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아키텍처 설계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서비스 구성도(시스템 구성도)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서비스 흐름도(데이터 흐름도)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UI/UX 정의서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하드웨어/센서 구성도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기능 설계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메뉴 구성도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화면 설계서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엔티티 관계도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기능 처리도(기능 흐름도)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알고리즘 명세서/설명서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데이터 수집처리 정의서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하드웨어 설계도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개발/구현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프로그램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테이블 정의서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핵심 소스코드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0000" y="6480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※ ○ 필수, △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0" y="864000"/>
            <a:ext cx="3060000" cy="432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72000" y="936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D79"/>
                </a:solidFill>
                <a:latin typeface="맑은 고딕"/>
              </a:rPr>
              <a:t>본 프로젝트: 일반 모바일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2000" y="1332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필수 산출물(○)을 모두 작성합니다.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요구사항 정의서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8000" y="864000"/>
          <a:ext cx="9647999" cy="501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1368000"/>
                <a:gridCol w="1007999"/>
                <a:gridCol w="1260000"/>
                <a:gridCol w="3600000"/>
                <a:gridCol w="1620000"/>
              </a:tblGrid>
              <a:tr h="2088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요구사항ID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기능ID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기능명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세부사항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예외사항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인지훈련 기능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A01_B01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비교 게임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두 수/식을 비교하여 큰 값을 선택한다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시간 초과 시 오답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A01_B02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구구단 맞추기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구구단 문제의 정답을 선택한다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A01_B03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순서 기억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제시된 순서를 기억 후 재현한다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A01_B04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도형 스도쿠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3×3 그리드의 빈칸 도형을 선택한다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A01_B05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도형 짝 맞추기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같은 도형 쌍을 찾아 선택한다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A01_B06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단어 분류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단어를 알맞은 카테고리로 분류한다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A01_B07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문장 읽기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문장 읽기 후 이해도 문항에 답한다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보행 분석 기능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A02_B01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실시간 보행 측정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가속도 센서로 보행 변동성(CV%)을 측정한다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센서 권한 거부 시 안내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A02_B02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백그라운드 만보기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앱 종료 후에도 걸음수를 지속 측정한다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배터리 최적화 예외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A02_B03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주간 통계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7일간 걸음수/칼로리/거리를 그래프로 제공한다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음성 평가 기능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A03_B01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음성 녹음(STT)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마이크로 음성을 녹음하여 텍스트로 변환한다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마이크 권한 거부 시 안내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A03_B02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어휘 분석(TTR)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TTR/발화속도로 위험도 점수(0~100)를 산출한다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리포트 기능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A04_B01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주간 점수 차트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4개 영역 인지 점수 시계열 차트를 표시한다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데이터 없을 시 안내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A04_B02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뇌 나이 추정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인지 점수 평균으로 뇌 나이를 추정한다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A04_B03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PDF 내보내기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임상 리포트를 PDF로 저장·공유한다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A05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사용자 관리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A05_B01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회원가입/로그인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SQLite 기반 로컬 인증을 지원한다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중복 ID 거부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A05_B02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의료 정보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혈액형·복용약·비상연락처를 등록한다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A05_B03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보호자 QR 연결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QR 코드로 보호자 모니터링 링크를 공유한다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관리자 기능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A06_B01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어드민 대시보드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전체 사용자 수/DAU/위험 사용자를 조회한다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관리자 코드 인증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A06_B02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위험 사용자 감지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주간 점수 20% 이상 하락 사용자를 표시한다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CS 기능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A07_B01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공지사항/FAQ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공지사항·FAQ를 등록·조회한다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A07_B02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1:1 문의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사용자 문의 제출 및 관리자 답변을 지원한다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8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A07_B03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치매안심센터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전화·지도 앱으로 치매안심센터에 연결한다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서비스 구성도 - 시스템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0000" y="1260000"/>
            <a:ext cx="1440000" cy="900000"/>
          </a:xfrm>
          <a:prstGeom prst="rect">
            <a:avLst/>
          </a:prstGeom>
          <a:solidFill>
            <a:srgbClr val="70AD4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296000"/>
            <a:ext cx="1368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사용자
(노인/MCI 환자)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2000" y="1584000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D79"/>
                </a:solidFill>
                <a:latin typeface="맑은 고딕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340000" y="900000"/>
            <a:ext cx="5040000" cy="4320000"/>
          </a:xfrm>
          <a:prstGeom prst="rect">
            <a:avLst/>
          </a:prstGeom>
          <a:solidFill>
            <a:srgbClr val="DEEBF7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6000" y="936000"/>
            <a:ext cx="4968000" cy="42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0000" y="936000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D79"/>
                </a:solidFill>
                <a:latin typeface="맑은 고딕"/>
              </a:rPr>
              <a:t>Flutter 모바일 앱  (Android / iOS / Web)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2000" y="1368000"/>
            <a:ext cx="1728000" cy="57600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000" y="1404000"/>
            <a:ext cx="16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인지훈련 엔진
7 Game + 적응형 난이도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2000" y="2088000"/>
            <a:ext cx="1728000" cy="57600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8000" y="2124000"/>
            <a:ext cx="16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보행 분석
accelerometer + pedometer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2000" y="2808000"/>
            <a:ext cx="1728000" cy="57600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8000" y="2844000"/>
            <a:ext cx="16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음성 평가
STT → TTR 어휘 분석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92000" y="3528000"/>
            <a:ext cx="1728000" cy="57600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000" y="3564000"/>
            <a:ext cx="16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리포트 생성
fl_chart + PDF 내보내기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0000" y="1368000"/>
            <a:ext cx="1728000" cy="57600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6000" y="1404000"/>
            <a:ext cx="16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백그라운드 만보기
Android Foreground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0000" y="2088000"/>
            <a:ext cx="1728000" cy="57600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6000" y="2124000"/>
            <a:ext cx="16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기억 정원
Lottie 애니메이션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0000" y="2808000"/>
            <a:ext cx="1728000" cy="57600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6000" y="2844000"/>
            <a:ext cx="16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어드민 포털
7개 관리화면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0000" y="3528000"/>
            <a:ext cx="1728000" cy="57600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6000" y="3564000"/>
            <a:ext cx="165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CS 센터
공지/FAQ/문의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0" y="5292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0000" y="5292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60000" y="5580000"/>
            <a:ext cx="2160000" cy="720000"/>
          </a:xfrm>
          <a:prstGeom prst="rect">
            <a:avLst/>
          </a:prstGeom>
          <a:solidFill>
            <a:srgbClr val="C55A11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6000" y="5616000"/>
            <a:ext cx="20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SQLite 로컬 DB
사용자/점수/걸음수/체크리스트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0000" y="5580000"/>
            <a:ext cx="2520000" cy="720000"/>
          </a:xfrm>
          <a:prstGeom prst="rect">
            <a:avLst/>
          </a:prstGeom>
          <a:solidFill>
            <a:srgbClr val="0070C0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6000" y="5616000"/>
            <a:ext cx="24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Supabase 클라우드 DB
훈련난이도/공지/문의/FAQ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0000" y="1260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F3D79"/>
                </a:solidFill>
                <a:latin typeface="맑은 고딕"/>
              </a:rPr>
              <a:t>State Management: Provider (ChangeNotifier)
Routing: GoRouter 17.x  |  Font: 맑은 고딕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000" y="6300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>■ 인지훈련  ■ 보행  ■ 음성  ■ 리포트  ■ 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서비스 구성도 - 서비스 시나리오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864000"/>
            <a:ext cx="3851999" cy="396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2000" y="900000"/>
            <a:ext cx="37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① 인지훈련 시나리오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1260000"/>
            <a:ext cx="3851999" cy="46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332000"/>
            <a:ext cx="3671999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앱 실행 → 인지훈련 탭 선택 → 게임 선택 (7종)
→ 적응형 난이도로 문제 생성
→ 사용자 응답 → 점수 저장 (SQLite)
→ 난이도 자동 조정 (Supabase 동기화)
→ 주간 리포트 반영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6000" y="864000"/>
            <a:ext cx="3851999" cy="396000"/>
          </a:xfrm>
          <a:prstGeom prst="rect">
            <a:avLst/>
          </a:prstGeom>
          <a:solidFill>
            <a:srgbClr val="378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48000" y="900000"/>
            <a:ext cx="37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② 보행 분석 시나리오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6000" y="1260000"/>
            <a:ext cx="3851999" cy="46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4000" y="1332000"/>
            <a:ext cx="3671999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걷기 시작 → 백그라운드 만보기 자동 측정
→ 보행 탭 → '측정 시작' 버튼
→ 가속도 3축 데이터 수집
→ CV% 실시간 계산 및 파형 표시
→ 세션 종료 → 결과 저장 → 리포트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72000" y="864000"/>
            <a:ext cx="3851999" cy="396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4000" y="900000"/>
            <a:ext cx="37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③ 보호자 알림 시나리오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2000" y="1260000"/>
            <a:ext cx="3851999" cy="46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000" y="1332000"/>
            <a:ext cx="3671999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맑은 고딕"/>
              </a:rPr>
              <a:t>오후 6시 이후 걸음수 급감 감지
(3일 평균의 30% 미만)
→ 이상 감지 알림 생성
→ 보호자 QR 코드 공유
→ 보호자가 대시보드 접속
→ 위험 지표 확인 및 조치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" y="6192000"/>
            <a:ext cx="11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○ 공통 서비스 흐름: 로그인 → 온보딩 (최초 1회) → 기저값 인지평가 → 일상 루틴 (훈련·보행·음성) → 주간 리포트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메뉴 구성도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0000" y="900000"/>
            <a:ext cx="1260000" cy="360000"/>
          </a:xfrm>
          <a:prstGeom prst="rect">
            <a:avLst/>
          </a:prstGeom>
          <a:solidFill>
            <a:srgbClr val="1F3D79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918000"/>
            <a:ext cx="11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스플래시 화면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20000" y="1080000"/>
            <a:ext cx="540000" cy="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160000" y="900000"/>
            <a:ext cx="1260000" cy="360000"/>
          </a:xfrm>
          <a:prstGeom prst="rect">
            <a:avLst/>
          </a:prstGeom>
          <a:solidFill>
            <a:srgbClr val="1F3D79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6000" y="918000"/>
            <a:ext cx="11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로그인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000" y="1440000"/>
            <a:ext cx="1260000" cy="360000"/>
          </a:xfrm>
          <a:prstGeom prst="rect">
            <a:avLst/>
          </a:prstGeom>
          <a:solidFill>
            <a:srgbClr val="1F3D79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6000" y="1458000"/>
            <a:ext cx="11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회원가입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0000" y="1080000"/>
            <a:ext cx="540000" cy="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60000" y="900000"/>
            <a:ext cx="1440000" cy="360000"/>
          </a:xfrm>
          <a:prstGeom prst="rect">
            <a:avLst/>
          </a:prstGeom>
          <a:solidFill>
            <a:srgbClr val="1F3D79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96000" y="918000"/>
            <a:ext cx="13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온보딩
(최초1회)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00000" y="1080000"/>
            <a:ext cx="540000" cy="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940000" y="900000"/>
            <a:ext cx="1620000" cy="360000"/>
          </a:xfrm>
          <a:prstGeom prst="rect">
            <a:avLst/>
          </a:prstGeom>
          <a:solidFill>
            <a:srgbClr val="8B0000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76000" y="918000"/>
            <a:ext cx="15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메인 내비게이션
(하단 탭 5개)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0000" y="1800000"/>
            <a:ext cx="2160000" cy="324000"/>
          </a:xfrm>
          <a:prstGeom prst="rect">
            <a:avLst/>
          </a:prstGeom>
          <a:solidFill>
            <a:srgbClr val="2E74B5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1818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2268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000" y="2286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오늘의 걸음 목표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60000" y="2268000"/>
            <a:ext cx="0" cy="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60000" y="2771999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000" y="2789999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기억 정원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60000" y="2663999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60000" y="3276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000" y="3294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MIND 식단 추천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60000" y="3168000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60000" y="3780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000" y="3798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일일 체크리스트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60000" y="3672000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60000" y="4283999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000" y="4301999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일상 회상 (Daily Recall)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60000" y="4175999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520000" y="1800000"/>
            <a:ext cx="2160000" cy="324000"/>
          </a:xfrm>
          <a:prstGeom prst="rect">
            <a:avLst/>
          </a:prstGeom>
          <a:solidFill>
            <a:srgbClr val="2E74B5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56000" y="1818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인지훈련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0" y="2268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36000" y="2286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비교 게임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600000" y="2268000"/>
            <a:ext cx="0" cy="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700000" y="2771999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36000" y="2789999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구구단 맞추기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600000" y="2663999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700000" y="3276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36000" y="3294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순서 기억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600000" y="3168000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700000" y="3780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36000" y="3798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도형 스도쿠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600000" y="3672000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700000" y="4283999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36000" y="4301999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도형 짝 맞추기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600000" y="4175999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700000" y="4788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36000" y="4806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단어 분류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600000" y="4680000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2700000" y="5292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36000" y="5310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문장 읽기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600000" y="5184000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860000" y="1800000"/>
            <a:ext cx="2160000" cy="324000"/>
          </a:xfrm>
          <a:prstGeom prst="rect">
            <a:avLst/>
          </a:prstGeom>
          <a:solidFill>
            <a:srgbClr val="2E74B5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96000" y="1818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보행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40000" y="2268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76000" y="2286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실시간 만보기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940000" y="2268000"/>
            <a:ext cx="0" cy="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040000" y="2771999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6000" y="2789999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보행 변동성(CV%) 측정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940000" y="2663999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5040000" y="3276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76000" y="3294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주간 걸음 통계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940000" y="3168000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5040000" y="3780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76000" y="3798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정밀 분석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940000" y="3672000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7200000" y="1800000"/>
            <a:ext cx="2160000" cy="324000"/>
          </a:xfrm>
          <a:prstGeom prst="rect">
            <a:avLst/>
          </a:prstGeom>
          <a:solidFill>
            <a:srgbClr val="2E74B5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36000" y="1818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리포트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80000" y="2268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16000" y="2286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주간 인지 점수 차트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280000" y="2268000"/>
            <a:ext cx="0" cy="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7380000" y="2771999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16000" y="2789999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뇌 나이 추정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280000" y="2663999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7380000" y="3276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16000" y="3294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임상 리포트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280000" y="3168000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7380000" y="3780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16000" y="3798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PDF 내보내기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280000" y="3672000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9540000" y="1800000"/>
            <a:ext cx="2160000" cy="324000"/>
          </a:xfrm>
          <a:prstGeom prst="rect">
            <a:avLst/>
          </a:prstGeom>
          <a:solidFill>
            <a:srgbClr val="2E74B5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576000" y="1818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프로필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720000" y="2268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756000" y="2286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내 정보 수정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0620000" y="2268000"/>
            <a:ext cx="0" cy="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9720000" y="2771999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56000" y="2789999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의료 정보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620000" y="2663999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9720000" y="3276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756000" y="3294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보호자 QR 연결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10620000" y="3168000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9720000" y="3780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756000" y="3798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접근성 설정
(글자 크기/음성/진동)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0620000" y="3672000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9720000" y="4283999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56000" y="4301999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고객센터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0620000" y="4175999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9720000" y="4788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756000" y="4806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치매안심센터 연결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0620000" y="4680000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9720000" y="5292000"/>
            <a:ext cx="1800000" cy="39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756000" y="5310000"/>
            <a:ext cx="17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맑은 고딕"/>
              </a:rPr>
              <a:t>로그아웃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0620000" y="5184000"/>
            <a:ext cx="0" cy="108000"/>
          </a:xfrm>
          <a:prstGeom prst="line">
            <a:avLst/>
          </a:prstGeom>
          <a:ln w="12700">
            <a:solidFill>
              <a:srgbClr val="1F3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화면 설계서 - 홈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8000" y="864000"/>
          <a:ext cx="104400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260000"/>
                <a:gridCol w="3780000"/>
                <a:gridCol w="432000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기능번호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기능명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기능설명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처리내용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HOME-001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실시간 걸음수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오늘의 걸음수·목표 달성률을 표시한다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PedometerManager에서 steps 수신, 목표 6000보 대비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HOME-002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기억 정원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계절·훈련 달성에 따라 꽃이 자라는 가드닝 화면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Lottie 애니메이션 + 훈련 완료 카운트로 꽃 단계 갱신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HOME-003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MIND 식단 추천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치매 예방 MIND 식단 카드 슬라이드를 제공한다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정적 콘텐츠 카드(12개 식품군) 랜덤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HOME-004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일일 체크리스트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오늘의 활동 목표 체크 기능(운동·훈련·복약 등)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SQLite checklist 테이블 upsert (date 기준)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HOME-005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일상 회상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오늘 있었던 일을 짧게 기록하는 회상 훈련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Daily recall 페이지 이동; 저장 후 훈련 점수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800000" y="864000"/>
            <a:ext cx="1188000" cy="5760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18000" y="972000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┌─────────────┐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8000" y="1324800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│  MemoryLink 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8000" y="1677599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│   🏠 홈     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8000" y="2030400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│─────────────│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8000" y="2383200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│ 오늘 걸음수  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8000" y="2736000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│  3,254 / 6,000│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8000" y="3088800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│ [████░░░░] 54%│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8000" y="3441599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│─────────────│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8000" y="3794400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│ [기억 정원 🌸]│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8000" y="4147200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│ [MIND 식단  ]│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18000" y="4500000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│ [체크리스트 ]│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8000" y="4852800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│─────────────│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18000" y="5205600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│홈 훈련 보행  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8000" y="5558400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│리포트 프로필 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18000" y="5911200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000000"/>
                </a:solidFill>
                <a:latin typeface="Consolas"/>
              </a:rPr>
              <a:t>└─────────────┘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화면 설계서 - 인지훈련 허브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00" y="900000"/>
            <a:ext cx="1440000" cy="46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" y="972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기능번호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8000" y="900000"/>
            <a:ext cx="8100000" cy="46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0000" y="936000"/>
            <a:ext cx="795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GAME-001 ~ GAME-007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" y="1440000"/>
            <a:ext cx="1440000" cy="46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000" y="1512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기능명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48000" y="1440000"/>
            <a:ext cx="8100000" cy="46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0000" y="1476000"/>
            <a:ext cx="795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인지훈련 허브 (7종 게임)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000" y="1980000"/>
            <a:ext cx="1440000" cy="46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000" y="2052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기능설명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48000" y="1980000"/>
            <a:ext cx="8100000" cy="46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0000" y="2016000"/>
            <a:ext cx="795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사용자의 현재 난이도(1~10)에 맞게 7종의 인지훈련 게임을 제공한다.
적응형 난이도 엔진(DifficultyProvider)이 성과에 따라 레벨을 자동 조정한다.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" y="2520000"/>
            <a:ext cx="1440000" cy="46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000" y="2592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처리내용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48000" y="2520000"/>
            <a:ext cx="8100000" cy="46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0000" y="2556000"/>
            <a:ext cx="795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① DifficultyProvider.loadLevels() 로 현재 레벨 조회
② 게임 선택 → 레벨 기반 문제 생성
③ 응답 수집 → updatePerformance(category, isCorrect, time)
④ 3연속 정답 + 목표시간 이하 → level UP (max 10)
⑤ 2연속 오답 → level DOWN (min 1)
⑥ setCognitiveScore() → SQLite 저장 → Supabase 동기화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" y="3060000"/>
            <a:ext cx="1440000" cy="46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000" y="3132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비고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48000" y="3060000"/>
            <a:ext cx="8100000" cy="46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0000" y="3096000"/>
            <a:ext cx="795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게임 공통 템플릿: GameTemplate 위젯
카테고리: 계산·논리·기억·지각 (4개 영역)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000" y="3600000"/>
            <a:ext cx="1440000" cy="46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000" y="3672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요구사항명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48000" y="3600000"/>
            <a:ext cx="8100000" cy="46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0000" y="3636000"/>
            <a:ext cx="795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인지훈련 기능 (A01)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00000" y="900000"/>
            <a:ext cx="900000" cy="486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6000" y="918000"/>
            <a:ext cx="827999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맑은 고딕"/>
              </a:rPr>
              <a:t>GAME-001
비교 게임
(계산)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08000" y="1458000"/>
            <a:ext cx="900000" cy="486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44000" y="1476000"/>
            <a:ext cx="827999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맑은 고딕"/>
              </a:rPr>
              <a:t>GAME-002
구구단
(계산)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00000" y="2015999"/>
            <a:ext cx="900000" cy="486000"/>
          </a:xfrm>
          <a:prstGeom prst="rect">
            <a:avLst/>
          </a:prstGeom>
          <a:solidFill>
            <a:srgbClr val="378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36000" y="2033999"/>
            <a:ext cx="827999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맑은 고딕"/>
              </a:rPr>
              <a:t>GAME-003
순서 기억
(기억)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08000" y="2574000"/>
            <a:ext cx="900000" cy="486000"/>
          </a:xfrm>
          <a:prstGeom prst="rect">
            <a:avLst/>
          </a:prstGeom>
          <a:solidFill>
            <a:srgbClr val="378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44000" y="2592000"/>
            <a:ext cx="827999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맑은 고딕"/>
              </a:rPr>
              <a:t>GAME-004
도형 스도쿠
(기억)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00000" y="3131999"/>
            <a:ext cx="900000" cy="486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6000" y="3149999"/>
            <a:ext cx="827999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맑은 고딕"/>
              </a:rPr>
              <a:t>GAME-005
도형 짝 맞추기
(지각)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08000" y="3690000"/>
            <a:ext cx="900000" cy="486000"/>
          </a:xfrm>
          <a:prstGeom prst="rect">
            <a:avLst/>
          </a:prstGeom>
          <a:solidFill>
            <a:srgbClr val="753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44000" y="3708000"/>
            <a:ext cx="827999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맑은 고딕"/>
              </a:rPr>
              <a:t>GAME-006
단어 분류
(논리)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60000" y="4248000"/>
            <a:ext cx="900000" cy="486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96000" y="4266000"/>
            <a:ext cx="827999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맑은 고딕"/>
              </a:rPr>
              <a:t>GAME-007
문장 읽기
(지각)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0000" y="4860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0000"/>
                </a:solidFill>
                <a:latin typeface="맑은 고딕"/>
              </a:rPr>
              <a:t>난이도: Lv.1 ~ Lv.10 (자동 조정)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화면 설계서 - 보행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8000" y="864000"/>
          <a:ext cx="10115999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1368000"/>
                <a:gridCol w="3420000"/>
                <a:gridCol w="432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기능번호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기능명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기능설명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처리내용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GAIT-001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실시간 보행 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가속도 센서로 보행 변동성(CV%)을 실시간 측정한다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GaitProvider.startMeasurement() → sensors_plus 스트리밍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GAIT-002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걸음 감지 알고리즘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3축 가속도 크기(magnitude)로 걸음을 감지한다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magnitude=√(x²+y²+z²) &gt; 1.0, 시간간격 300~2000ms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GAIT-003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보행 변동성(CV%) 계산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stride_time의 표준편차/평균으로 CV%를 산출한다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CV%=(σ/μ)×100; 높을수록 불규칙 보행 위험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GAIT-004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실시간 파형 시각화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최근 50샘플의 가속도 파형을 그래프로 표시한다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fl_chart LineChart; 0.1초 간격 업데이트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GAIT-005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백그라운드 만보기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앱 종료 후에도 Android 포그라운드 서비스로 걸음 수 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flutter_background_service + pedometer 패키지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GAIT-006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일간 보행 저장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걸음수·칼로리·거리를 일 단위로 SQLite에 저장한다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daily_steps 테이블 upsert; 칼로리=steps×0.04×(weight/60)×((100-age)/100)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512000" y="864000"/>
            <a:ext cx="1548000" cy="1620000"/>
          </a:xfrm>
          <a:prstGeom prst="rect">
            <a:avLst/>
          </a:prstGeom>
          <a:solidFill>
            <a:srgbClr val="DEEBF7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84000" y="936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D79"/>
                </a:solidFill>
                <a:latin typeface="맑은 고딕"/>
              </a:rPr>
              <a:t>보행 변동성 공식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84000" y="1224000"/>
            <a:ext cx="1440000" cy="11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CV(%) =
  (σ / μ) × 100
σ: stride_time 표준편차
μ: stride_time 평균
정상: CV &lt; 3%
경계: 3~5%
위험: CV ≥ 5%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2000" y="2592000"/>
            <a:ext cx="1548000" cy="1440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84000" y="2628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D79"/>
                </a:solidFill>
                <a:latin typeface="맑은 고딕"/>
              </a:rPr>
              <a:t>칼로리 계산식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84000" y="2880000"/>
            <a:ext cx="1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kcal = steps × 0.04
  × (weight / 60)
  × ((100 - age) / 100)
거리(km)
 = steps × 0.7 / 1000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화면 설계서 - 리포트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8000" y="864000"/>
          <a:ext cx="10620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440000"/>
                <a:gridCol w="3960000"/>
                <a:gridCol w="4140000"/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기능번호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기능명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기능설명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처리내용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REPORT-001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주간 인지 점수 차트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최근 7일간 4개 영역(계산/논리/기억/지각) 점수 추이를 시계열 차트로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SQLite training_scores → fl_chart LineChart; 영역별 색상 구분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REPORT-002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뇌 나이 추정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인지 점수 평균(0~10)을 기반으로 추정 뇌 나이를 계산하여 표시한다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brainAge = realAge + (5.0 - avgScore) × 2; ReportAnalyzer.analyze()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REPORT-003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임상 리포트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주간 인지·보행·음성 점수를 종합한 임상 텍스트 리포트를 생성한다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ClinicalReportGenerator.generate(); 강점·약점·권고사항 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REPORT-004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개인화 권장사항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점수가 낮은 영역에 맞춤 활동 권장사항 카드를 제공한다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ReportAnalyzer.getRecommendations(); 4개 영역별 권장 운동 매핑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REPORT-005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PDF 내보내기·공유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임상 리포트를 PDF로 변환하여 저장하거나 타 앱으로 공유한다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pdf + printing 패키지; share_plus로 외부 공유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872000" y="864000"/>
            <a:ext cx="1188000" cy="3600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08000" y="936000"/>
            <a:ext cx="11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F3D79"/>
                </a:solidFill>
                <a:latin typeface="맑은 고딕"/>
              </a:rPr>
              <a:t>주간 점수 차트 (예시)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08000" y="1188000"/>
            <a:ext cx="10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Consolas"/>
              </a:rPr>
              <a:t>10│  ●─●
 8│●     ●
 6│        ●
 4│
 2│
  └─────────
   월 화 수 목 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8000" y="2592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F3D79"/>
                </a:solidFill>
                <a:latin typeface="맑은 고딕"/>
              </a:rPr>
              <a:t>뇌 나이 추정 카드 (예시)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08000" y="2844000"/>
            <a:ext cx="1080000" cy="72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4000" y="2880000"/>
            <a:ext cx="1007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추정 뇌 나이
65세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000" y="3636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B0000"/>
                </a:solidFill>
                <a:latin typeface="맑은 고딕"/>
              </a:rPr>
              <a:t>실제 나이 대비 +2세
→ 인지훈련 강화 권장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엔티티 관계도 - ERD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86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D79"/>
                </a:solidFill>
                <a:latin typeface="맑은 고딕"/>
              </a:rPr>
              <a:t>○ SQLite 로컬 데이터베이스 (sqflite)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" y="1152000"/>
            <a:ext cx="2951999" cy="251999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000" y="1170000"/>
            <a:ext cx="2879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users (사용자)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" y="1403999"/>
            <a:ext cx="2951999" cy="2214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" y="1440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E74B5"/>
                </a:solidFill>
                <a:latin typeface="맑은 고딕"/>
              </a:rPr>
              <a:t>id INT 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" y="1638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username VARCHAR(50) UNIQUE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" y="1836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password VARCHAR(100)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" y="2034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goal VARCHAR(20)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000" y="2232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age 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000" y="2430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weight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" y="2628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blood_type VARCHAR(5)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000" y="2826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medications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000" y="3024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emergency_contact VARCHAR(20)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" y="3222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pedometer_enabled BOOLEAN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000" y="3420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has_completed_onboarding BOOLEAN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0000" y="1152000"/>
            <a:ext cx="2951999" cy="251999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76000" y="1170000"/>
            <a:ext cx="2879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training_scores (훈련점수)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0000" y="1403999"/>
            <a:ext cx="2951999" cy="102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4000" y="1440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E74B5"/>
                </a:solidFill>
                <a:latin typeface="맑은 고딕"/>
              </a:rPr>
              <a:t>id INT PK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4000" y="1638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55A11"/>
                </a:solidFill>
                <a:latin typeface="맑은 고딕"/>
              </a:rPr>
              <a:t>user_id INT FK → users.id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4000" y="1836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category VARCHAR(20)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4000" y="2034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score REAL (0~10)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4000" y="2232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created_at TIMESTAMP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0000" y="1152000"/>
            <a:ext cx="2951999" cy="251999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6000" y="1170000"/>
            <a:ext cx="2879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daily_steps (일간 걸음)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0000" y="1403999"/>
            <a:ext cx="2951999" cy="102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4000" y="1440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55A11"/>
                </a:solidFill>
                <a:latin typeface="맑은 고딕"/>
              </a:rPr>
              <a:t>user_id INT FK → users.id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4000" y="1638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date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4000" y="1836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steps 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4000" y="2034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calories REAL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4000" y="2232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distance REAL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0000" y="1152000"/>
            <a:ext cx="2951999" cy="251999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56000" y="1170000"/>
            <a:ext cx="2879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checklist (일일 체크)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0000" y="1403999"/>
            <a:ext cx="2951999" cy="1026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74000" y="1440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E74B5"/>
                </a:solidFill>
                <a:latin typeface="맑은 고딕"/>
              </a:rPr>
              <a:t>id INT PK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74000" y="1638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55A11"/>
                </a:solidFill>
                <a:latin typeface="맑은 고딕"/>
              </a:rPr>
              <a:t>user_id INT FK → users.id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74000" y="1836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task_title VARCHAR(100)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74000" y="2034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is_checked BOOLEAN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74000" y="2232000"/>
            <a:ext cx="28439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date 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51999" y="1980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E74B5"/>
                </a:solidFill>
                <a:latin typeface="맑은 고딕"/>
              </a:rPr>
              <a:t>1 ─── 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000" y="2340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E74B5"/>
                </a:solidFill>
                <a:latin typeface="맑은 고딕"/>
              </a:rPr>
              <a:t>1 ─── 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60000" y="2340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2E74B5"/>
                </a:solidFill>
                <a:latin typeface="맑은 고딕"/>
              </a:rPr>
              <a:t>1 ─── 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0000" y="4140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0C0"/>
                </a:solidFill>
                <a:latin typeface="맑은 고딕"/>
              </a:rPr>
              <a:t>○ Supabase 클라우드 데이터베이스 (PostgreSQL)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8000" y="4428000"/>
            <a:ext cx="2988000" cy="23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4000" y="4446000"/>
            <a:ext cx="2916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training_difficulty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8000" y="4662000"/>
            <a:ext cx="2988000" cy="1159200"/>
          </a:xfrm>
          <a:prstGeom prst="rect">
            <a:avLst/>
          </a:prstGeom>
          <a:solidFill>
            <a:srgbClr val="E2F0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2000" y="4698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username VARCHAR PK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2000" y="48852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calculation_level INT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2000" y="50724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logic_level 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2000" y="52596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memory_level INT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2000" y="54468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perception_level INT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2000" y="5634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updated_at TIMESTAMP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40000" y="4428000"/>
            <a:ext cx="2988000" cy="23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76000" y="4446000"/>
            <a:ext cx="2916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notices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40000" y="4662000"/>
            <a:ext cx="2988000" cy="972000"/>
          </a:xfrm>
          <a:prstGeom prst="rect">
            <a:avLst/>
          </a:prstGeom>
          <a:solidFill>
            <a:srgbClr val="E2F0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4000" y="4698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id UUID PK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4000" y="48852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title TEXT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4000" y="50724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content TEXT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94000" y="52596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is_pinned BOOLEAN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94000" y="54468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created_at TIMESTAMP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0000" y="4428000"/>
            <a:ext cx="2988000" cy="23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56000" y="4446000"/>
            <a:ext cx="2916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inquiries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0000" y="4662000"/>
            <a:ext cx="2988000" cy="1346400"/>
          </a:xfrm>
          <a:prstGeom prst="rect">
            <a:avLst/>
          </a:prstGeom>
          <a:solidFill>
            <a:srgbClr val="E2F0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74000" y="4698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id UUID PK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4000" y="48852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user_id TEXT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4000" y="50724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title TEXT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4000" y="52596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content TEXT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4000" y="54468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status VARCHAR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4000" y="5634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admin_response TEXT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74000" y="58212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created_at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72000" y="4428000"/>
            <a:ext cx="2988000" cy="23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08000" y="4446000"/>
            <a:ext cx="2916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faqs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72000" y="4662000"/>
            <a:ext cx="2988000" cy="972000"/>
          </a:xfrm>
          <a:prstGeom prst="rect">
            <a:avLst/>
          </a:prstGeom>
          <a:solidFill>
            <a:srgbClr val="E2F0F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26000" y="4698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id UUID PK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26000" y="48852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category VARCHAR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26000" y="50724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question TEXT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26000" y="52596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answer TEXT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26000" y="54468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맑은 고딕"/>
              </a:rPr>
              <a:t>order_num 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기능 처리도(기능 흐름도) - 인지훈련 플로우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827999"/>
            <a:ext cx="9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프로그램 ID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" y="827999"/>
            <a:ext cx="900000" cy="19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999" y="827999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>GAME_DiffEngine_M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8000" y="827999"/>
            <a:ext cx="9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프로그램 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8000" y="827999"/>
            <a:ext cx="900000" cy="19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8000" y="827999"/>
            <a:ext cx="25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>인지훈련 적응형 난이도 엔진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8000" y="827999"/>
            <a:ext cx="5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작성일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8000" y="827999"/>
            <a:ext cx="540000" cy="19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8000" y="827999"/>
            <a:ext cx="9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>2025.05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" y="1080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개요: 사용자의 응답 정확도와 반응 시간을 바탕으로 인지훈련 게임의 난이도(1~10)를 자동 조정하는 폐루프 엔진. DifficultyProvider가 Provider 패턴으로 전역 관리하며, Supabase에 실시간 동기화한다.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60000" y="1440000"/>
            <a:ext cx="2520000" cy="28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6000" y="1458000"/>
            <a:ext cx="244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앱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0" y="1728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0000" y="1908000"/>
            <a:ext cx="2520000" cy="28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6000" y="1926000"/>
            <a:ext cx="244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DifficultyProvider.loadLevels()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0000" y="2196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0000" y="2376000"/>
            <a:ext cx="2520000" cy="28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6000" y="2394000"/>
            <a:ext cx="244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게임 선택 (7종)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0000" y="2664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0" y="2844000"/>
            <a:ext cx="2520000" cy="28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6000" y="2862000"/>
            <a:ext cx="244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레벨 기반 문제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0000" y="3131999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60000" y="3311999"/>
            <a:ext cx="2520000" cy="28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6000" y="3329999"/>
            <a:ext cx="244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사용자 응답 수집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0000" y="3600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0000" y="3780000"/>
            <a:ext cx="2520000" cy="4320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6000" y="3816000"/>
            <a:ext cx="244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updatePerformance
(category, isCorrect, time)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000" y="3851999"/>
            <a:ext cx="1908000" cy="360000"/>
          </a:xfrm>
          <a:prstGeom prst="rect">
            <a:avLst/>
          </a:prstGeom>
          <a:solidFill>
            <a:srgbClr val="378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4000" y="3869999"/>
            <a:ext cx="18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3연속 정답 +
목표시간 이하
→ level UP (max 10)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68000" y="3851999"/>
            <a:ext cx="1908000" cy="3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4000" y="3869999"/>
            <a:ext cx="18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2연속 오답
→ level DOWN (min 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0000" y="4212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0000" y="4392000"/>
            <a:ext cx="2520000" cy="28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6000" y="4410000"/>
            <a:ext cx="244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setCognitiveScore() → SQLite 저장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0000" y="4680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0000" y="4860000"/>
            <a:ext cx="2520000" cy="28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6000" y="4878000"/>
            <a:ext cx="244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Supabase 동기화 (_syncToSupabase)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0000" y="5148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60000" y="5328000"/>
            <a:ext cx="2520000" cy="28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96000" y="5346000"/>
            <a:ext cx="244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리포트 차트 반영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80000" y="3780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0000"/>
                </a:solidFill>
                <a:latin typeface="맑은 고딕"/>
              </a:rPr>
              <a:t>targetTime(level) = max(2.0, 5.0 − level × 0.3) 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0000" y="4104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파일 위치: lib/features/training/difficulty_provider.dart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80000" y="439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카테고리별 독립 관리:
calculation / logic / memory / perception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기능 처리도(기능 흐름도) - 보행 분석 플로우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827999"/>
            <a:ext cx="9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프로그램 ID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" y="827999"/>
            <a:ext cx="900000" cy="19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999" y="827999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>GAIT_Analyzer_M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" y="1080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개요: 가속도 센서 3축 데이터에서 걸음을 감지하고 보행 변동성(CV%)을 계산하여 인지 위험도 지표로 활용한다.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40000" y="1440000"/>
            <a:ext cx="2880000" cy="28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6000" y="1468800"/>
            <a:ext cx="280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GaitProvider.startMeasurement()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8000" y="1728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40000" y="1908000"/>
            <a:ext cx="2880000" cy="28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6000" y="1936800"/>
            <a:ext cx="280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sensors_plus: 가속도 3축 (x,y,z) 스트리밍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8000" y="219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40000" y="2376000"/>
            <a:ext cx="2880000" cy="28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6000" y="2404800"/>
            <a:ext cx="280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magnitude = √(x²+y²+z²)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8000" y="2664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0000" y="2844000"/>
            <a:ext cx="2880000" cy="3960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6000" y="2880000"/>
            <a:ext cx="28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magnitude &gt; 1.0
AND 시간간격 300~2000ms?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324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맑은 고딕"/>
              </a:rPr>
              <a:t>YES↓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1999" y="2952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0000"/>
                </a:solidFill>
                <a:latin typeface="맑은 고딕"/>
              </a:rPr>
              <a:t>NO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000" y="2844000"/>
            <a:ext cx="1800000" cy="28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6000" y="2872800"/>
            <a:ext cx="172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무시 (다음 샘플 대기)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40000" y="3420000"/>
            <a:ext cx="2880000" cy="28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6000" y="3448800"/>
            <a:ext cx="280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stride_time 기록 (걸음 간격 ms)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8000" y="3708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40000" y="3888000"/>
            <a:ext cx="2880000" cy="28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6000" y="3916800"/>
            <a:ext cx="280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stride_time 목록 누적 (최근 30개)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8000" y="417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40000" y="4356000"/>
            <a:ext cx="2880000" cy="288000"/>
          </a:xfrm>
          <a:prstGeom prst="rect">
            <a:avLst/>
          </a:prstGeom>
          <a:solidFill>
            <a:srgbClr val="378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6000" y="4384800"/>
            <a:ext cx="280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CV% = (σ / μ) × 100 계산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8000" y="4644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40000" y="4824000"/>
            <a:ext cx="2880000" cy="28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6000" y="4852800"/>
            <a:ext cx="280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실시간 파형 시각화 (최근 50샘플)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8000" y="5112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D79"/>
                </a:solidFill>
                <a:latin typeface="맑은 고딕"/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40000" y="5292000"/>
            <a:ext cx="2880000" cy="3600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6000" y="5328000"/>
            <a:ext cx="28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</a:rPr>
              <a:t>세션 종료?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0000" y="5652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맑은 고딕"/>
              </a:rPr>
              <a:t>YES↓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1999" y="5364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NO → 계속 스트리밍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40000" y="5832000"/>
            <a:ext cx="2880000" cy="28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6000" y="5860800"/>
            <a:ext cx="2808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Supabase cognitive_scores 저장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0000" y="1440000"/>
            <a:ext cx="37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정상 보행 기준
CV &lt; 3%: 정상
3~5%: 경계
CV ≥ 5%: 불규칙 (위험)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20000" y="1440000"/>
            <a:ext cx="3780000" cy="1260000"/>
          </a:xfrm>
          <a:prstGeom prst="rect">
            <a:avLst/>
          </a:prstGeom>
          <a:solidFill>
            <a:srgbClr val="DEEBF7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92000" y="1475999"/>
            <a:ext cx="3600000" cy="11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맑은 고딕"/>
              </a:rPr>
              <a:t>정상 보행 기준
CV &lt; 3%:  정상
3 ~ 5%:  경계
CV ≥ 5%:  불규칙 (위험)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0000" y="2880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맑은 고딕"/>
              </a:rPr>
              <a:t>파일: lib/features/gait_analysis/gait_analyzer.dart
     lib/features/gait_analysis/gait_provider.dart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프로그램 목록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8000" y="864000"/>
          <a:ext cx="5580000" cy="457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1260000"/>
                <a:gridCol w="3600000"/>
              </a:tblGrid>
              <a:tr h="1908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기능번호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기능명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AUTH-001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회원가입 및 로그인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AUTH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AUTH-002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자동 로그인 (SharedPreferences)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AUTH-003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로그아웃 및 세션 초기화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ONBD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ONBD-001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온보딩 플로우 (목표 선택·동의)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ASMT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ASMT-001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기저값 인지 평가 (10문항 설문)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ASMT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ASMT-002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인지 과제 평가 (시각·언어)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GAME-001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비교 게임 (누가 큰가요?)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GAME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GAME-002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구구단 맞추기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GAME-003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순서 기억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GAME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GAME-004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도형 스도쿠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GAME-005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도형 짝 맞추기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GAME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GAME-006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단어 분류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GAME-007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문장 읽기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GAIT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GAIT-001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실시간 보행 측정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GAIT-002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걸음 감지 알고리즘 (magnitude 임계값)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GAIT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GAIT-003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보행 변동성 (CV%) 계산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GAIT-004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실시간 파형 시각화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GAIT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GAIT-005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백그라운드 만보기 서비스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GAIT-006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일간 보행 데이터 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VOICE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VOICE-001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음성 녹음 (STT)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VOICE-002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어휘 다양도 (TTR) 계산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VOICE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VOICE-003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발화 속도 분석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VOICE-004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음성 위험도 점수 (0~100) 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0000" y="864000"/>
          <a:ext cx="5580000" cy="438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1260000"/>
                <a:gridCol w="3600000"/>
              </a:tblGrid>
              <a:tr h="1908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기능번호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기능명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HOME-001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실시간 걸음수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HOME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HOME-002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기억 정원 (Lottie 애니메이션)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HOME-003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MIND 식단 추천 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HOME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HOME-004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일일 체크리스트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REPORT-001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주간 인지 점수 시계열 차트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REPORT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REPORT-002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뇌 나이 추정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REPORT-003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임상 리포트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REPORT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REPORT-005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PDF 내보내기·공유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GUARD-001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보호자 QR 코드 생성·공유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GUARD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GUARD-002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이상 감지 알림 (걸음수 급감)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CS-001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공지사항 목록·상세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CS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CS-002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FAQ 목록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CS-003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1:1 문의 제출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CS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CS-004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내 문의 이력 조회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INST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INST-001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치매안심센터 전화·지도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ADMIN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ADMIN-001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관리자 로그인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ADMIN-002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어드민 대시보드 통계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ADMIN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ADMIN-003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위험 사용자 감지·조회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ADMIN-004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CS 문의 관리 및 답변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ACC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ACC-001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텍스트 크기 조절 (3단계)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ACC-002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음성 안내 (TTS, 한국어)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8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ACC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ACC-003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진동(햅틱) 피드백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테이블 정의서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864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D79"/>
                </a:solidFill>
                <a:latin typeface="맑은 고딕"/>
              </a:rPr>
              <a:t>&lt; users 테이블 &gt;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8000" y="1116000"/>
          <a:ext cx="828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260000"/>
                <a:gridCol w="900000"/>
                <a:gridCol w="900000"/>
                <a:gridCol w="3240000"/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필수/선택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발생여부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INTEGER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기본키 (자동증가)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username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VARCHAR(50)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로그인 ID (unique)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VARCHAR(100)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해시 비밀번호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goal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VARCHAR(20)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prevention / concern / family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나이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weight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REAL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체중 (kg)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blood_type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VARCHAR(5)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혈액형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medications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복용약 목록 (쉼표 구분)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emergency_contact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VARCHAR(20)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비상 연락처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pedometer_enabled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BOOLEAN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만보기 활성 여부 (기본값: false)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has_completed_onboarding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BOOLEAN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온보딩 완료 여부 (기본값: false)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8000" y="4031999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D79"/>
                </a:solidFill>
                <a:latin typeface="맑은 고딕"/>
              </a:rPr>
              <a:t>&lt; training_scores 테이블 &gt;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8000" y="4284000"/>
          <a:ext cx="8280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260000"/>
                <a:gridCol w="900000"/>
                <a:gridCol w="900000"/>
                <a:gridCol w="3240000"/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필수/선택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발생여부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INTEGER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기본키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user_id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INTEGER FK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users.id 참조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VARCHAR(20)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calculation / logic / memory / perception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score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REAL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0.0 ~ 10.0 점수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기록 일시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40000" y="864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D79"/>
                </a:solidFill>
                <a:latin typeface="맑은 고딕"/>
              </a:rPr>
              <a:t>&lt; daily_steps 테이블 &gt;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40000" y="1116000"/>
          <a:ext cx="4680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900000"/>
                <a:gridCol w="540000"/>
                <a:gridCol w="540000"/>
                <a:gridCol w="1800000"/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필수/선택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발생여부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user_id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INTEGER FK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users.id 참조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기록 날짜 (YYYY-MM-DD)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당일 걸음수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calories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REAL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소모 칼로리 (kcal)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이동 거리 (km)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40000" y="2700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D79"/>
                </a:solidFill>
                <a:latin typeface="맑은 고딕"/>
              </a:rPr>
              <a:t>&lt; checklist 테이블 &gt;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640000" y="2951999"/>
          <a:ext cx="4680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900000"/>
                <a:gridCol w="540000"/>
                <a:gridCol w="540000"/>
                <a:gridCol w="1800000"/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필수/선택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발생여부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INTEGER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기본키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user_id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INTEGER FK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users.id 참조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task_title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VARCHAR(100)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체크리스트 항목명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is_checked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BOOLEAN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완료 여부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해당 날짜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640000" y="4320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D79"/>
                </a:solidFill>
                <a:latin typeface="맑은 고딕"/>
              </a:rPr>
              <a:t>&lt; daily_active_users 테이블 &gt;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640000" y="4572000"/>
          <a:ext cx="4680000" cy="6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900000"/>
                <a:gridCol w="540000"/>
                <a:gridCol w="540000"/>
                <a:gridCol w="1800000"/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필수/선택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발생여부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기록 날짜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user_id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INT FK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발생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users.id 참조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테이블 정의서 - Supabase 클라우드 DB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864000"/>
            <a:ext cx="57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70C0"/>
                </a:solidFill>
                <a:latin typeface="맑은 고딕"/>
              </a:rPr>
              <a:t>&lt; training_difficulty &gt;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8000" y="1080000"/>
          <a:ext cx="5760000" cy="13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080000"/>
                <a:gridCol w="900000"/>
                <a:gridCol w="1980000"/>
              </a:tblGrid>
              <a:tr h="1980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필수/선택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username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VARCHAR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사용자 ID (users.username 참조)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calculation_level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계산 영역 난이도 (1~10)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logic_level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논리 영역 난이도 (1~10)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memory_level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기억 영역 난이도 (1~10)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perception_level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지각 영역 난이도 (1~10)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updated_at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TIMESTAMP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마지막 업데이트 일시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8000" y="2700000"/>
            <a:ext cx="57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70C0"/>
                </a:solidFill>
                <a:latin typeface="맑은 고딕"/>
              </a:rPr>
              <a:t>&lt; notices (공지사항) &gt;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8000" y="2916000"/>
          <a:ext cx="57600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080000"/>
                <a:gridCol w="900000"/>
                <a:gridCol w="1980000"/>
              </a:tblGrid>
              <a:tr h="1980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필수/선택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UUID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공지사항 ID (자동생성)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title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공지 제목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공지 내용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is_pinned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BOOLEAN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상단 고정 여부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작성 일시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8000" y="4500000"/>
            <a:ext cx="57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70C0"/>
                </a:solidFill>
                <a:latin typeface="맑은 고딕"/>
              </a:rPr>
              <a:t>&lt; faqs &gt;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8000" y="4716000"/>
          <a:ext cx="57600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080000"/>
                <a:gridCol w="900000"/>
                <a:gridCol w="1980000"/>
              </a:tblGrid>
              <a:tr h="1980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필수/선택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UUID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FAQ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category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VARCHAR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카테고리 (사용방법/계정/기능/기타)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question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질문 내용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answer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답변 내용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order_num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표시 순서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20000" y="864000"/>
            <a:ext cx="57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70C0"/>
                </a:solidFill>
                <a:latin typeface="맑은 고딕"/>
              </a:rPr>
              <a:t>&lt; inquiries (1:1문의) &gt;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0000" y="1080000"/>
          <a:ext cx="5760000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080000"/>
                <a:gridCol w="900000"/>
                <a:gridCol w="1980000"/>
              </a:tblGrid>
              <a:tr h="1980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필수/선택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UUID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문의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user_id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사용자 ID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문의 제목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content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문의 내용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VARCHAR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pending / 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admin_response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관리자 답변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제출 일시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20000" y="3060000"/>
            <a:ext cx="57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70C0"/>
                </a:solidFill>
                <a:latin typeface="맑은 고딕"/>
              </a:rPr>
              <a:t>&lt; inquiry_replies (답변) &gt;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20000" y="3276000"/>
          <a:ext cx="57600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080000"/>
                <a:gridCol w="900000"/>
                <a:gridCol w="1980000"/>
              </a:tblGrid>
              <a:tr h="1980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필수/선택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UUID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답변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inquiry_id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UUID FK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inquiries.id 참조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답변 내용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is_admin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BOOLEAN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관리자 답변 여부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작성 일시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20000" y="4860000"/>
            <a:ext cx="57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70C0"/>
                </a:solidFill>
                <a:latin typeface="맑은 고딕"/>
              </a:rPr>
              <a:t>&lt; cognitive_scores (인지/보행 점수) &gt;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0000" y="5076000"/>
          <a:ext cx="5760000" cy="13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080000"/>
                <a:gridCol w="900000"/>
                <a:gridCol w="1980000"/>
              </a:tblGrid>
              <a:tr h="19800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항목명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필수/선택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UUID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점수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user_id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사용자 ID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VARCHAR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gait / voice /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score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REAL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점수 값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JSONB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추가 데이터 (CV%, TTR 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created_at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TIMESTAMP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>
                          <a:solidFill>
                            <a:srgbClr val="000000"/>
                          </a:solidFill>
                          <a:latin typeface="맑은 고딕"/>
                        </a:rPr>
                        <a:t>기록 일시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핵심 소스코드 (1) - 보행 변동성 알고리즘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00" y="864000"/>
            <a:ext cx="11807999" cy="234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882000"/>
            <a:ext cx="1152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• GaitAnalyzer  |  파일: lib/features/gait_analysis/gait_analyzer.dart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" y="1134000"/>
            <a:ext cx="7380000" cy="547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1206000"/>
            <a:ext cx="7236000" cy="53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D4D4D4"/>
                </a:solidFill>
                <a:latin typeface="Consolas"/>
              </a:rPr>
              <a:t>import 'dart:math';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class GaitAnalyzer {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final List&lt;int&gt; _strideTimes = [];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int? _lastStepTime;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// 걸음 감지: 가속도 크기 임계값 기반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bool detectStep(double x, double y, double z) {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double magnitude = sqrt(x * x + y * y + z * z);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int now = DateTime.now().millisecondsSinceEpoch;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if (magnitude &gt; 1.0 &amp;&amp; _lastStepTime != null) {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  int interval = now - _lastStepTime!;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  if (interval &gt;= 300 &amp;&amp; interval &lt;= 2000) {   // 생물학적 보행 범위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    _strideTimes.add(interval);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    if (_strideTimes.length &gt; 30) _strideTimes.removeAt(0);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    _lastStepTime = now;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    return true;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  }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if (magnitude &gt; 1.0) _lastStepTime = now;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return false;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}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// 보행 변동성 CV% = (표준편차 / 평균) × 100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double calculateCV() {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if (_strideTimes.length &lt; 2) return 0.0;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double mean = _strideTimes.reduce((a, b) =&gt; a + b) / _strideTimes.length;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double variance = _strideTimes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    .map((t) =&gt; pow(t - mean, 2).toDouble())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    .reduce((a, b) =&gt; a + b) / _strideTimes.length;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return (sqrt(variance) / mean) * 100;   // CV%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}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// 위험도 판정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String getRiskLevel() {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double cv = calculateCV();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if (cv &lt; 3.0) return '정상';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if (cv &lt; 5.0) return '경계';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return '위험';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}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8000" y="1152000"/>
            <a:ext cx="41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D79"/>
                </a:solidFill>
                <a:latin typeface="맑은 고딕"/>
              </a:rPr>
              <a:t>알고리즘 설명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68000" y="1152000"/>
            <a:ext cx="4140000" cy="234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0000" y="1188000"/>
            <a:ext cx="39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D79"/>
                </a:solidFill>
                <a:latin typeface="맑은 고딕"/>
              </a:rPr>
              <a:t>알고리즘 설명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68000" y="1440000"/>
            <a:ext cx="4140000" cy="19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0000" y="14688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① 걸음 감지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68000" y="1638000"/>
            <a:ext cx="41400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000" y="1674000"/>
            <a:ext cx="39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가속도 크기(magnitude)가 임계값(1.0 m/s²)을 초과하고,
직전 걸음과의 시간 간격이 300~2,000 ms 범위인 경우에만
걸음으로 인정 (생물학적 보행 주기 기반 필터링)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68000" y="2394000"/>
            <a:ext cx="4140000" cy="19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0000" y="24228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② 변동성 계산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68000" y="2592000"/>
            <a:ext cx="41400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0000" y="2628000"/>
            <a:ext cx="39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최근 30개 stride_time의 표준편차를 평균으로 나눈
값에 100을 곱해 CV%를 구함.
CV%가 높을수록 보행이 불규칙 → 치매 조기 지표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68000" y="3348000"/>
            <a:ext cx="4140000" cy="19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0000" y="33768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③ 위험도 판정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68000" y="3546000"/>
            <a:ext cx="41400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0000" y="3582000"/>
            <a:ext cx="39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CV &lt; 3%: 정상
3% ≤ CV &lt; 5%: 경계
CV ≥ 5%: 불규칙 (위험, 가이드라인 기준)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68000" y="4302000"/>
            <a:ext cx="4140000" cy="19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0000" y="43308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④ 데이터 활용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68000" y="4500000"/>
            <a:ext cx="41400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40000" y="4536000"/>
            <a:ext cx="39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GaitProvider → GaitScreen
→ Supabase cognitive_scores 저장
→ ReportsScreen 주간 차트에 반영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핵심 소스코드 (2) - 적응형 난이도 엔진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00" y="864000"/>
            <a:ext cx="11807999" cy="234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882000"/>
            <a:ext cx="1152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• DifficultyProvider  |  파일: lib/features/training/difficulty_provider.dart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" y="1134000"/>
            <a:ext cx="7380000" cy="547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1206000"/>
            <a:ext cx="7236000" cy="53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D4D4D4"/>
                </a:solidFill>
                <a:latin typeface="Consolas"/>
              </a:rPr>
              <a:t>class DifficultyProvider extends ChangeNotifier {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Map&lt;String, int&gt; _levels = {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'calculation': 1, 'logic': 1, 'memory': 1, 'perception': 1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};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// 카테고리별 최근 결과 기록 (최대 5개)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final Map&lt;String, List&lt;Map&lt;String, dynamic&gt;&gt;&gt; _history = {};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// 게임 결과 반영 → 난이도 자동 조정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void updatePerformance(String category, bool isCorrect,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                      double responseTime) {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_addResult(category, isCorrect, responseTime);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int level = _levels[category] ?? 1;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// 목표 반응시간: 레벨이 높을수록 짧아짐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double targetTime = max(2.0, 5.0 - (level * 0.3));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if (_lastThreeCorrect(category) &amp;&amp;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    _avgTime(category) &lt;= targetTime) {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  _levels[category] = min(10, level + 1);  // 레벨 UP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} else if (_lastTwoWrong(category)) {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  _levels[category] = max(1, level - 1);   // 레벨 DOWN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_syncToSupabase(category);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notifyListeners();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}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bool _lastThreeCorrect(String cat) {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var h = _history[cat] ?? [];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if (h.length &lt; 3) return false;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return h.reversed.take(3).every((r) =&gt; r['correct'] == true);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}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bool _lastTwoWrong(String cat) {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var h = _history[cat] ?? [];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if (h.length &lt; 2) return false;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return h.reversed.take(2).every((r) =&gt; r['correct'] == false);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}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double _avgTime(String cat) {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var h = _history[cat] ?? [];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if (h.isEmpty) return 999.0;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  return h.map((r) =&gt; r['time'] as double).reduce((a,b)=&gt;a+b) / h.length;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  }</a:t>
            </a:r>
          </a:p>
          <a:p>
            <a:r>
              <a:rPr sz="78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7668000" y="1152000"/>
            <a:ext cx="4140000" cy="19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0000" y="11808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레벨 범위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68000" y="1350000"/>
            <a:ext cx="4140000" cy="64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0000" y="1386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1 (최저) ~ 10 (최고)
4개 영역 독립 관리
(계산/논리/기억/지각)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68000" y="2034000"/>
            <a:ext cx="4140000" cy="19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0000" y="20628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목표 시간 공식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68000" y="2232000"/>
            <a:ext cx="4140000" cy="64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0000" y="2268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targetTime = max(2.0, 5.0 − level × 0.3)
Lv.1: 4.7초 / Lv.5: 3.5초
Lv.10: 2.0초 (최소값)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68000" y="2916000"/>
            <a:ext cx="4140000" cy="19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0000" y="29448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UP 조건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8000" y="3114000"/>
            <a:ext cx="4140000" cy="64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0000" y="3150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최근 3회 연속 정답
AND 평균 응답시간 ≤ targetTime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68000" y="3798000"/>
            <a:ext cx="4140000" cy="19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0000" y="38268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DOWN 조건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8000" y="3996000"/>
            <a:ext cx="4140000" cy="64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0000" y="4032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최근 2회 연속 오답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8000" y="4680000"/>
            <a:ext cx="4140000" cy="19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0000" y="47088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동기화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68000" y="4878000"/>
            <a:ext cx="4140000" cy="64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40000" y="4914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변경 시 Supabase
training_difficulty 테이블
실시간 업데이트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핵심 소스코드 (3) - 음성 평가 (TTR 분석)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00" y="864000"/>
            <a:ext cx="11807999" cy="234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882000"/>
            <a:ext cx="115200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• VoiceAssessmentScreen._analyzeText()  |  파일: lib/features/voice_assessment/voice_assessment_screen.dart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" y="1134000"/>
            <a:ext cx="7380000" cy="52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1206000"/>
            <a:ext cx="7236000" cy="51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D4D4D4"/>
                </a:solidFill>
                <a:latin typeface="Consolas"/>
              </a:rPr>
              <a:t>// 음성 텍스트 분석: TTR + 발화속도 + 발화량 → 위험도 점수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Map&lt;String, dynamic&gt; _analyzeText(String text) {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// 1. TTR (Type-Token Ratio): 어휘 다양도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List&lt;String&gt; words = text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  .split(' ')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  .where((w) =&gt; w.isNotEmpty)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  .toList();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int uniqueWords = words.toSet().length;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double ttr = words.isEmpty ? 0.0 : uniqueWords / words.length;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double ttrScore = (ttr * 40).clamp(0, 40);      // max 40점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// 2. 발화 속도 (WPM: Words Per Minute)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double minutes = _recordingSeconds / 60.0;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double wpm = minutes &gt; 0 ? words.length / minutes : 0;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// 정상 발화속도: 60~180 WPM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double speedScore = (wpm &gt;= 60 &amp;&amp; wpm &lt;= 180) ? 30.0 : 0.0;  // max 30점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// 3. 발화량 (총 단어 수)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double volumeScore = words.length.clamp(0, 30).toDouble();    // max 30점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// 4. 종합 위험도 점수 (0~100)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double total = (ttrScore + speedScore + volumeScore).clamp(0, 100);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// 5. 위험 등급 판정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String level;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if (total &gt;= 75)      level = '양호';   // 정상 범위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else if (total &gt;= 50) level = '보통';   // 주의 관찰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else                  level = '주의';   // 전문가 상담 권고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return {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'score': total,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'level': level,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'ttr': ttr,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'wpm': wpm,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'wordCount': words.length,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  'uniqueWords': uniqueWords,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  };</a:t>
            </a:r>
          </a:p>
          <a:p>
            <a:r>
              <a:rPr sz="8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7668000" y="1152000"/>
            <a:ext cx="4140000" cy="19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0000" y="11808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TTR (어휘 다양도)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68000" y="1350000"/>
            <a:ext cx="4140000" cy="9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0000" y="1386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TTR = 고유 단어 수 / 전체 단어 수
• TTR ≈ 1.0: 매우 다양한 어휘 사용
• TTR 저하: 어휘 반복 증가 → 인지 기능 저하 징후
• 배점: TTR × 40 (최대 40점)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68000" y="2358000"/>
            <a:ext cx="4140000" cy="19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0000" y="23868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발화 속도 (WPM)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68000" y="2556000"/>
            <a:ext cx="4140000" cy="9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0000" y="2592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정상 발화속도: 60 ~ 180 WPM
범위 내 → 30점
범위 외 → 0점
너무 느리거나 빠른 경우 모두 비정상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68000" y="3564000"/>
            <a:ext cx="4140000" cy="19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0000" y="35928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발화량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68000" y="3762000"/>
            <a:ext cx="4140000" cy="9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0000" y="3798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30단어 이상 발화 시 만점 (30점)
단어 수가 적을수록 발화 억제 경향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68000" y="4770000"/>
            <a:ext cx="4140000" cy="19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0000" y="4798800"/>
            <a:ext cx="39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위험 등급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8000" y="4968000"/>
            <a:ext cx="4140000" cy="9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0000" y="5004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≥ 75점: 양호
50 ~ 74점: 보통 (관찰 권고)
&lt; 50점: 주의 (전문가 상담 권고)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참조 - 개발 환경 및 기술 스택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8000" y="864000"/>
          <a:ext cx="11807999" cy="5335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99"/>
                <a:gridCol w="2700000"/>
                <a:gridCol w="8100000"/>
              </a:tblGrid>
              <a:tr h="205199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적용내역</a:t>
                      </a:r>
                    </a:p>
                  </a:txBody>
                  <a:tcPr>
                    <a:solidFill>
                      <a:srgbClr val="1F3D79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S/W
개발환경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Flutter 3.11.3+ / Dart 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크로스플랫폼 모바일 앱 개발 (Android/iOS/Web)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Provider 6.x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상태관리 패턴 (ChangeNotifier, ProxyProvider)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GoRouter 17.1.0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선언형 라우팅 및 인증 가드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sqflite 2.4.2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로컬 SQLite 데이터베이스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supabase_flutter 2.8.1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클라우드 DB 동기화 (PostgreSQL)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sensors_plus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가속도계·자이로스코프 스트리밍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pedometer 4.0.1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시스템 만보기 걸음수 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speech_to_text 7.3.0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온디바이스 STT (Google Speech Recognition)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flutter_tts 4.2.5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TTS 음성 안내 (한국어, 노인 접근성)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fl_chart 1.2.0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인지 점수 시계열·막대 차트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flutter_background_service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Android 포그라운드 서비스 (백그라운드 만보기)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flutter_local_notifications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이상 감지 로컬 푸시 알림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pdf 3.11.1 + printing 5.13.2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임상 리포트 PDF 생성·인쇄·공유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qr_flutter 4.1.0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보호자 연결 QR 코드 생성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Lottie 3.1.2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기억 정원 인터랙티브 애니메이션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NanumGothic / 맑은 고딕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한국어 노인 가독성 폰트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H/W
구성장비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Android 스마트폰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주 타겟 디바이스 (Android 6.0+)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iOS 아이폰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보조 타겟 (iOS 12+)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내장 가속도/자이로 센서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보행 변동성 분석용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마이크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음성 평가 STT 입력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서버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Supabase (PostgreSQL)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클라우드 DB 및 REST API (무료 플랜)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테스트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flutter_test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단위·위젯 테스트 (7 unit + 3 widget)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mocktail 1.0.4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Mock 기반 단위 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integration_test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엔드투엔드 통합 테스트 (2개)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205199"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GitHub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000000"/>
                          </a:solidFill>
                          <a:latin typeface="맑은 고딕"/>
                        </a:rPr>
                        <a:t>.github/ 워크플로우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6000"/>
            <a:ext cx="5760000" cy="558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| 참조 - S/W 기능 실사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4000"/>
            <a:ext cx="12193200" cy="1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864000"/>
            <a:ext cx="2268000" cy="36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90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홈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260000"/>
            <a:ext cx="1152000" cy="1980000"/>
          </a:xfrm>
          <a:prstGeom prst="rect">
            <a:avLst/>
          </a:prstGeom>
          <a:solidFill>
            <a:srgbClr val="FFFFFF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6000" y="1620000"/>
            <a:ext cx="7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[화면
이미지]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" y="3311999"/>
            <a:ext cx="2268000" cy="3060000"/>
          </a:xfrm>
          <a:prstGeom prst="rect">
            <a:avLst/>
          </a:prstGeom>
          <a:solidFill>
            <a:srgbClr val="F2F2F2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000" y="3384000"/>
            <a:ext cx="21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• 오늘의 걸음수 / 목표 달성률 표시
• 기억 정원 (Lottie 꽃 성장 애니메이션)
• MIND 식단 카드 슬라이드
• 일일 체크리스트
• 하단 탭 내비게이션 (5개 메뉴)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6000" y="864000"/>
            <a:ext cx="2268000" cy="360000"/>
          </a:xfrm>
          <a:prstGeom prst="rect">
            <a:avLst/>
          </a:prstGeom>
          <a:solidFill>
            <a:srgbClr val="378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2000" y="90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인지훈련 허브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6000" y="1260000"/>
            <a:ext cx="1152000" cy="1980000"/>
          </a:xfrm>
          <a:prstGeom prst="rect">
            <a:avLst/>
          </a:prstGeom>
          <a:solidFill>
            <a:srgbClr val="FFFFFF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2000" y="1620000"/>
            <a:ext cx="7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[화면
이미지]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0" y="3311999"/>
            <a:ext cx="2268000" cy="3060000"/>
          </a:xfrm>
          <a:prstGeom prst="rect">
            <a:avLst/>
          </a:prstGeom>
          <a:solidFill>
            <a:srgbClr val="F2F2F2"/>
          </a:solidFill>
          <a:ln>
            <a:solidFill>
              <a:srgbClr val="378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0000" y="3384000"/>
            <a:ext cx="21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• 7종 게임 카드 그리드 레이아웃
• 현재 난이도 레벨 배지 표시
• 주간 훈련 완료율 프로그레스 바
• 게임 시작 시 음성 안내(TTS)
• 정답/오답 시 햅틱 피드백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2000" y="864000"/>
            <a:ext cx="2268000" cy="36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8000" y="90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보행 분석 화면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72000" y="1260000"/>
            <a:ext cx="1152000" cy="1980000"/>
          </a:xfrm>
          <a:prstGeom prst="rect">
            <a:avLst/>
          </a:prstGeom>
          <a:solidFill>
            <a:srgbClr val="FFFFFF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8000" y="1620000"/>
            <a:ext cx="7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[화면
이미지]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2000" y="3311999"/>
            <a:ext cx="2268000" cy="3060000"/>
          </a:xfrm>
          <a:prstGeom prst="rect">
            <a:avLst/>
          </a:prstGeom>
          <a:solidFill>
            <a:srgbClr val="F2F2F2"/>
          </a:solidFill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6000" y="3384000"/>
            <a:ext cx="21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• 실시간 가속도 파형 그래프
• CV% 수치 및 위험도 색상 표시
  (녹색: 정상 / 노랑: 경계 / 빨강: 위험)
• 오늘 걸음수 / 칼로리 / 거리
• 주간 막대 그래프
• '정밀 분석' 상세 보기 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7999" y="864000"/>
            <a:ext cx="2268000" cy="360000"/>
          </a:xfrm>
          <a:prstGeom prst="rect">
            <a:avLst/>
          </a:prstGeom>
          <a:solidFill>
            <a:srgbClr val="1F3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3999" y="90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리포트 화면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47999" y="1260000"/>
            <a:ext cx="1152000" cy="1980000"/>
          </a:xfrm>
          <a:prstGeom prst="rect">
            <a:avLst/>
          </a:prstGeom>
          <a:solidFill>
            <a:srgbClr val="FFFFFF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3999" y="1620000"/>
            <a:ext cx="7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[화면
이미지]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7999" y="3311999"/>
            <a:ext cx="2268000" cy="3060000"/>
          </a:xfrm>
          <a:prstGeom prst="rect">
            <a:avLst/>
          </a:prstGeom>
          <a:solidFill>
            <a:srgbClr val="F2F2F2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1999" y="3384000"/>
            <a:ext cx="21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• 4개 영역 인지 점수 시계열 차트
• 추정 뇌 나이 카드
• 영역별 강점/약점 텍스트 요약
• 개인화 권장 활동 카드
• PDF 내보내기 버튼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84000" y="864000"/>
            <a:ext cx="2268000" cy="360000"/>
          </a:xfrm>
          <a:prstGeom prst="rect">
            <a:avLst/>
          </a:prstGeom>
          <a:solidFill>
            <a:srgbClr val="753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0000" y="900000"/>
            <a:ext cx="219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프로필 &amp; 어드민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4000" y="1260000"/>
            <a:ext cx="1152000" cy="1980000"/>
          </a:xfrm>
          <a:prstGeom prst="rect">
            <a:avLst/>
          </a:prstGeom>
          <a:solidFill>
            <a:srgbClr val="FFFFFF"/>
          </a:solidFill>
          <a:ln>
            <a:solidFill>
              <a:srgbClr val="1F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40000" y="1620000"/>
            <a:ext cx="7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[화면
이미지]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84000" y="3311999"/>
            <a:ext cx="2268000" cy="3060000"/>
          </a:xfrm>
          <a:prstGeom prst="rect">
            <a:avLst/>
          </a:prstGeom>
          <a:solidFill>
            <a:srgbClr val="F2F2F2"/>
          </a:solidFill>
          <a:ln>
            <a:solidFill>
              <a:srgbClr val="753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000" y="3384000"/>
            <a:ext cx="21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맑은 고딕"/>
              </a:rPr>
              <a:t>• 사용자 의료 정보 (혈액형/복용약)
• 보호자 QR 코드 생성
• 접근성: 글자 크기 3단계 조절
• 관리자 대시보드: DAU/위험사용자
• CS 문의 관리 및 답변 시스템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000" y="6480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0000"/>
                </a:solidFill>
                <a:latin typeface="맑은 고딕"/>
              </a:rPr>
              <a:t>※ 실제 앱 스크린샷을 각 화면 이미지 영역에 삽입하여 제출하십시오.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00000" y="5040000"/>
            <a:ext cx="144000" cy="14400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60000" y="5400000"/>
            <a:ext cx="144000" cy="14400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20000" y="5040000"/>
            <a:ext cx="144000" cy="144000"/>
          </a:xfrm>
          <a:prstGeom prst="ellipse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80000" y="5400000"/>
            <a:ext cx="144000" cy="14400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40000" y="5040000"/>
            <a:ext cx="144000" cy="14400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00000" y="5400000"/>
            <a:ext cx="144000" cy="144000"/>
          </a:xfrm>
          <a:prstGeom prst="ellipse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20000" y="5760000"/>
            <a:ext cx="144000" cy="14400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80000" y="6120000"/>
            <a:ext cx="144000" cy="14400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40000" y="5760000"/>
            <a:ext cx="144000" cy="144000"/>
          </a:xfrm>
          <a:prstGeom prst="ellipse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00000" y="6120000"/>
            <a:ext cx="144000" cy="14400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60000" y="5760000"/>
            <a:ext cx="144000" cy="14400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00000" y="5760000"/>
            <a:ext cx="144000" cy="144000"/>
          </a:xfrm>
          <a:prstGeom prst="ellipse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40000" y="5400000"/>
            <a:ext cx="144000" cy="144000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40000" y="6120000"/>
            <a:ext cx="144000" cy="144000"/>
          </a:xfrm>
          <a:prstGeom prst="ellipse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0000" y="108000"/>
            <a:ext cx="1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D79"/>
                </a:solidFill>
                <a:latin typeface="맑은 고딕"/>
              </a:rPr>
              <a:t>한이음드림업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2520000"/>
            <a:ext cx="64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F3D79"/>
                </a:solidFill>
                <a:latin typeface="맑은 고딕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0" y="414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맑은 고딕"/>
              </a:rPr>
              <a:t>MemoryLink - AI 기반 치매 예방 멀티 인터벤션 모바일 플랫폼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